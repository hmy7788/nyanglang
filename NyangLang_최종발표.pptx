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실행 시간(초)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00&quot;초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DE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인터프리터 (Python)</c:v>
                  </c:pt>
                  <c:pt idx="1">
                    <c:v>LLVM 컴파일 .exe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0.792</c:v>
                </c:pt>
                <c:pt idx="1">
                  <c:v>0.024</c:v>
                </c:pt>
              </c:numCache>
            </c:numRef>
          </c:val>
        </c:ser>
        <c:dLbls>
          <c:numFmt formatCode="0.000&quot;초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114800" cy="4114800"/>
          </a:xfrm>
          <a:prstGeom prst="ellipse">
            <a:avLst/>
          </a:prstGeom>
          <a:solidFill>
            <a:srgbClr val="FF8C5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5B8DEF">
              <a:alpha val="15000"/>
            </a:srgbClr>
          </a:solidFill>
          <a:ln/>
        </p:spPr>
      </p:sp>
      <p:pic>
        <p:nvPicPr>
          <p:cNvPr id="4" name="Image 0" descr="C:\Users\dlsgh\Desktop\project\NyangLang\web\static\images\header-cat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0" y="1874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ESOLANG · COMPILER TOOLCHAIN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566160" y="2240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NyangLang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3657600" y="33832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C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 울음소리로 만든, 네이티브로 컴파일되는 언어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657600" y="3977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97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렉서 · 파서 · 인터프리터 · LLVM 컴파일러 · CLI · 웹까지 직접 구현한 풀 툴체인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보고서 발표</a:t>
            </a:r>
            <a:pPr indent="0" marL="0">
              <a:buNone/>
            </a:pPr>
            <a:r>
              <a:rPr lang="en-US" sz="1300" dirty="0">
                <a:solidFill>
                  <a:srgbClr val="9D97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그룹 «집사»   ·   허민엽 · 이창민 · 윤승희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IS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보기엔 귀엽지만, 규칙은 엄격하다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NyangLang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냥 · 냐 · 야옹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고양이 울음소리와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, ~ ! ?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기호만으로 프로그램을 작성하는 난해한 언어(esolang)다.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3447288"/>
            <a:ext cx="128016" cy="128016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192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기반 변수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냥 개수 = 변수 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014216"/>
            <a:ext cx="128016" cy="128016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86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기반 연산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push/pop으로 사칙연산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581144"/>
            <a:ext cx="128016" cy="128016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4531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야옹 = 종결자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문장은 야옹으로 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5394960" cy="3566160"/>
          </a:xfrm>
          <a:prstGeom prst="rect">
            <a:avLst/>
          </a:prstGeom>
          <a:solidFill>
            <a:srgbClr val="17152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9019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8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— 두 수를 입력받아 합 출력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냥??야옹 냥냥??야옹</a:t>
            </a:r>
            <a:pPr indent="0" marL="0">
              <a:buNone/>
            </a:pPr>
            <a:r>
              <a:rPr lang="en-US" sz="1500" dirty="0">
                <a:solidFill>
                  <a:srgbClr val="6F6A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 변수1, 변수2 입력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2898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냥~야옹 냥냥~야옹</a:t>
            </a:r>
            <a:pPr indent="0" marL="0">
              <a:buNone/>
            </a:pPr>
            <a:r>
              <a:rPr lang="en-US" sz="1500" dirty="0">
                <a:solidFill>
                  <a:srgbClr val="6F6A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# 스택에 push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34655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냐냐~야옹 냥냥냥~~야옹</a:t>
            </a:r>
            <a:pPr indent="0" marL="0">
              <a:buNone/>
            </a:pPr>
            <a:r>
              <a:rPr lang="en-US" sz="1500" dirty="0">
                <a:solidFill>
                  <a:srgbClr val="6F6A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 덧셈 → 변수3 저장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40325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냥냥냥!?야옹</a:t>
            </a:r>
            <a:pPr indent="0" marL="0">
              <a:buNone/>
            </a:pPr>
            <a:r>
              <a:rPr lang="en-US" sz="1500" dirty="0">
                <a:solidFill>
                  <a:srgbClr val="6F6A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# 변수3 출력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0" y="4645152"/>
            <a:ext cx="4846320" cy="0"/>
          </a:xfrm>
          <a:prstGeom prst="line">
            <a:avLst/>
          </a:prstGeom>
          <a:noFill/>
          <a:ln w="12700">
            <a:solidFill>
              <a:srgbClr val="3A36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7823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 </a:t>
            </a:r>
            <a:pPr indent="0" marL="0">
              <a:buNone/>
            </a:pPr>
            <a:r>
              <a:rPr lang="en-US" sz="15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3  5</a:t>
            </a:r>
            <a:pPr indent="0" marL="0">
              <a:buNone/>
            </a:pPr>
            <a:r>
              <a:rPr lang="en-US" sz="1500" dirty="0">
                <a:solidFill>
                  <a:srgbClr val="6F6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출력 </a:t>
            </a:r>
            <a:pPr indent="0" marL="0">
              <a:buNone/>
            </a:pPr>
            <a:r>
              <a:rPr lang="en-US" sz="1500" b="1" dirty="0">
                <a:solidFill>
                  <a:srgbClr val="53D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NyangLang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FOCUS OF THIS TALK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발표에서 보여드릴 두 가지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166360" cy="3383280"/>
          </a:xfrm>
          <a:prstGeom prst="rect">
            <a:avLst/>
          </a:prstGeom>
          <a:solidFill>
            <a:srgbClr val="2A2740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109728" cy="338328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331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188720" y="32461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LLVM 백엔드는 어떻게 동작하는가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88720" y="416052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인터프리터를 넘어, NyangLang 코드가 LLVM IR을 거쳐 진짜 네이티브 기계어 .exe로 컴파일되는 과정과 핵심 설계 결정들.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166360" cy="3383280"/>
          </a:xfrm>
          <a:prstGeom prst="rect">
            <a:avLst/>
          </a:prstGeom>
          <a:solidFill>
            <a:srgbClr val="2A2740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103120"/>
            <a:ext cx="109728" cy="3383280"/>
          </a:xfrm>
          <a:prstGeom prst="rect">
            <a:avLst/>
          </a:prstGeom>
          <a:solidFill>
            <a:srgbClr val="FF8C5A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331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629400" y="32461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보통 esolang과 다른가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629400" y="416052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 esolang은 인터프리터 하나로 끝난다. NyangLang은 컴파일러 설계의 전 과정을 실제로 구현했다.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88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"귀여운 언어 소개"가 아니라, 제대로 된 컴파일러 툴체인을 직접 구현했다는 이야기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Esolang, 그리고 우리의 한 걸음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94960" cy="4023360"/>
          </a:xfrm>
          <a:prstGeom prst="rect">
            <a:avLst/>
          </a:prstGeom>
          <a:solidFill>
            <a:srgbClr val="F7F6F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Esolang (난해한 언어)이란?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실용성보다 독창성·실험성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목표로 설계되는 프로그래밍 언어.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보통은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인터프리터 하나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만들어 </a:t>
            </a:r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어휘 분석 → 구문 분석 → 실행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과정을 학습하는 것으로 끝나는 경우가 많다.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486400" cy="4023360"/>
          </a:xfrm>
          <a:prstGeom prst="rect">
            <a:avLst/>
          </a:prstGeom>
          <a:solidFill>
            <a:srgbClr val="1E1B2E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차별 선언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92240" y="2514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C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여기에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컴파일러 백엔드</a:t>
            </a:r>
            <a:pPr indent="0" marL="0">
              <a:buNone/>
            </a:pPr>
            <a:r>
              <a:rPr lang="en-US" sz="1800" dirty="0">
                <a:solidFill>
                  <a:srgbClr val="CFC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붙였다.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92240" y="3255264"/>
            <a:ext cx="128016" cy="128016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3127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장난스러운 문법 → 엄격한 컴파일 규칙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92240" y="3822192"/>
            <a:ext cx="128016" cy="128016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36941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인터프리터 + LLVM 네이티브 컴파일러 (이중 백엔드)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92240" y="4389120"/>
            <a:ext cx="128016" cy="128016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2611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LLVM IR → 오브젝트(.o) → 링킹 → 실행 파일(.exe)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92240" y="4956048"/>
            <a:ext cx="128016" cy="128016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8280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+ 웹 플레이그라운드까지 갖춘 도구 체인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NyangLang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LANGUAGE AT A GLANCE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문법은 단 7가지 기호로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규칙: 모든 문장은 야옹으로 끝나고, 냥의 개수가 변수 번호다. 모든 연산은 스택 기반.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7589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NYANG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변수 번호 (냥 개수 = 변수 ID)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NYA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연산 종류 (냐 개수: 2=+ 3=− 4=× 5=÷)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야옹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YAONG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 종결자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  ,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 = +1,  , = −1  (누적 정수 리터럴)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TILDE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1개=스택 push,  2개=대입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!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1개=10진수 출력,  2개=ASCII 문자 출력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?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QUESTION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1개=조건 점프,  2개=입력,  3개=공백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NyangLang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프론트엔드, 두 개의 백엔드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286000" cy="868680"/>
          </a:xfrm>
          <a:prstGeom prst="rect">
            <a:avLst/>
          </a:prstGeom>
          <a:solidFill>
            <a:srgbClr val="F7F6FB"/>
          </a:solidFill>
          <a:ln w="12700">
            <a:solidFill>
              <a:srgbClr val="DDD9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40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(.nyang)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26080" y="2674620"/>
            <a:ext cx="502920" cy="0"/>
          </a:xfrm>
          <a:prstGeom prst="line">
            <a:avLst/>
          </a:prstGeom>
          <a:noFill/>
          <a:ln w="31750">
            <a:solidFill>
              <a:srgbClr val="FF8C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29000" y="2240280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240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렉서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674620"/>
            <a:ext cx="502920" cy="0"/>
          </a:xfrm>
          <a:prstGeom prst="line">
            <a:avLst/>
          </a:prstGeom>
          <a:noFill/>
          <a:ln w="31750">
            <a:solidFill>
              <a:srgbClr val="FF8C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17920" y="2240280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240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프론트엔드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3108960"/>
            <a:ext cx="0" cy="594360"/>
          </a:xfrm>
          <a:prstGeom prst="line">
            <a:avLst/>
          </a:prstGeom>
          <a:noFill/>
          <a:ln w="25400">
            <a:solidFill>
              <a:srgbClr val="C7C2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03320"/>
            <a:ext cx="5349240" cy="2011680"/>
          </a:xfrm>
          <a:prstGeom prst="rect">
            <a:avLst/>
          </a:prstGeom>
          <a:solidFill>
            <a:srgbClr val="F7F6F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703320"/>
            <a:ext cx="109728" cy="2011680"/>
          </a:xfrm>
          <a:prstGeom prst="rect">
            <a:avLst/>
          </a:prstGeom>
          <a:solidFill>
            <a:srgbClr val="53D1B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① 인터프리터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PC(Program Counter) 기반 즉시 실행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반복 개발 · 디버그 출력 · 동적 기능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3703320"/>
            <a:ext cx="5349240" cy="2011680"/>
          </a:xfrm>
          <a:prstGeom prst="rect">
            <a:avLst/>
          </a:prstGeom>
          <a:solidFill>
            <a:srgbClr val="1E1B2E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703320"/>
            <a:ext cx="109728" cy="201168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② LLVM 컴파일러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75120" y="4343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→ LLVM IR → .o → gcc 링킹 → .exe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 기계어로 컴파일 · 최고 성능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291840" y="3703320"/>
            <a:ext cx="0" cy="0"/>
          </a:xfrm>
          <a:prstGeom prst="line">
            <a:avLst/>
          </a:prstGeom>
          <a:noFill/>
          <a:ln w="25400">
            <a:solidFill>
              <a:srgbClr val="C7C2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토큰·커맨드를 두 백엔드가 그대로 공유한다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NyangLang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렉서 · 파서 — 여기까지는 교과서적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532120" cy="3566160"/>
          </a:xfrm>
          <a:prstGeom prst="rect">
            <a:avLst/>
          </a:prstGeom>
          <a:solidFill>
            <a:srgbClr val="F7F6F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37360"/>
            <a:ext cx="5532120" cy="68580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렉서 (Lexer)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→ 토큰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761488"/>
            <a:ext cx="118872" cy="118872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26243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글자씩 순회하는 단일 패스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364992"/>
            <a:ext cx="118872" cy="118872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32278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종류 기호는 개수를 누적 (냥냥 → NYANG=2)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968496"/>
            <a:ext cx="118872" cy="118872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38313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 + 옹 묶음을 YAONG 토큰으로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572000"/>
            <a:ext cx="118872" cy="118872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이후는 주석으로 무시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737360"/>
            <a:ext cx="5532120" cy="3566160"/>
          </a:xfrm>
          <a:prstGeom prst="rect">
            <a:avLst/>
          </a:prstGeom>
          <a:solidFill>
            <a:srgbClr val="F7F6FB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737360"/>
            <a:ext cx="5532120" cy="685800"/>
          </a:xfrm>
          <a:prstGeom prst="rect">
            <a:avLst/>
          </a:prstGeom>
          <a:solidFill>
            <a:srgbClr val="FF8C5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737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파서 (Parser)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37960" y="17373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→ 커맨드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2761488"/>
            <a:ext cx="118872" cy="11887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22" name="Text 20"/>
          <p:cNvSpPr/>
          <p:nvPr/>
        </p:nvSpPr>
        <p:spPr>
          <a:xfrm>
            <a:off x="6839712" y="26243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TokenStream 커서로 단일 패스 순회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3364992"/>
            <a:ext cx="118872" cy="11887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24" name="Text 22"/>
          <p:cNvSpPr/>
          <p:nvPr/>
        </p:nvSpPr>
        <p:spPr>
          <a:xfrm>
            <a:off x="6839712" y="32278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peek() 로 보고 consume() 로 소비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3968496"/>
            <a:ext cx="118872" cy="11887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26" name="Text 24"/>
          <p:cNvSpPr/>
          <p:nvPr/>
        </p:nvSpPr>
        <p:spPr>
          <a:xfrm>
            <a:off x="6839712" y="38313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토큰 종류로 분기 (예측적 파싱)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83680" y="4572000"/>
            <a:ext cx="118872" cy="11887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28" name="Text 26"/>
          <p:cNvSpPr/>
          <p:nvPr/>
        </p:nvSpPr>
        <p:spPr>
          <a:xfrm>
            <a:off x="6839712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끝에 야옹 종결자 검증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진짜 차별점은 그 다음, 백엔드에 있다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NyangLang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LLVM BACKEND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LLVM IR — 그래서 그게 뭐고, 왜 썼나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94960" cy="1691640"/>
          </a:xfrm>
          <a:prstGeom prst="rect">
            <a:avLst/>
          </a:prstGeom>
          <a:solidFill>
            <a:srgbClr val="2A2740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67712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2128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독립 중간표현(IR)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76148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고수준 소스와 기계어 사이의 공통 언어. CPU·OS에 독립적인 형태로 프로그램을 표현한다.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94960" cy="1691640"/>
          </a:xfrm>
          <a:prstGeom prst="rect">
            <a:avLst/>
          </a:prstGeom>
          <a:solidFill>
            <a:srgbClr val="2A2740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267712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22128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코드 생성·최적화 인프라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276148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IR만 만들면 LLVM이 각 플랫폼의 네이티브 기계어 생성과 최적화를 맡아준다.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5394960" cy="1691640"/>
          </a:xfrm>
          <a:prstGeom prst="rect">
            <a:avLst/>
          </a:prstGeom>
          <a:solidFill>
            <a:srgbClr val="2A2740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142232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0873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llvmlite — 파이썬 바인딩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63600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IR을 텍스트가 아니라 파이썬 코드로 '조립'한다. 빌더 API로 명령을 하나씩 쌓는다.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886200"/>
            <a:ext cx="5394960" cy="1691640"/>
          </a:xfrm>
          <a:prstGeom prst="rect">
            <a:avLst/>
          </a:prstGeom>
          <a:solidFill>
            <a:srgbClr val="2A2740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142232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40873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인터프리트가 아니라 "컴파일"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8040" y="463600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실행할 때마다 해석하는 게 아니라, 미리 기계어로 번역해 두고 OS가 직접 실행한다.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머신을 메모리로 옮기다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—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NyangLang은 스택 기반인데, LLVM IR에는 그런 스택이 없다.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 —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진입부에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 [256 x i32]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배열과 스택 포인터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잡고, push/pop을 메모리 연산으로 구현한다.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4389120"/>
            <a:ext cx="292608" cy="29260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 위치를 읽는다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4846320"/>
            <a:ext cx="292608" cy="29260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846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stack[sp] 에 값을 저장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5303520"/>
            <a:ext cx="292608" cy="29260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5303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 를 1 증가 (sp++)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5349240" cy="4069080"/>
          </a:xfrm>
          <a:prstGeom prst="rect">
            <a:avLst/>
          </a:prstGeom>
          <a:solidFill>
            <a:srgbClr val="17152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9202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8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_stack_push() — 생성되는 IR 개념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3774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   = load  i32, sp  </a:t>
            </a:r>
            <a:pPr indent="0" marL="0">
              <a:buNone/>
            </a:pPr>
            <a:r>
              <a:rPr lang="en-US" sz="1350" dirty="0">
                <a:solidFill>
                  <a:srgbClr val="6F6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현재 sp 읽기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75120" y="28895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= gep   stack, sp</a:t>
            </a:r>
            <a:pPr indent="0" marL="0">
              <a:buNone/>
            </a:pPr>
            <a:r>
              <a:rPr lang="en-US" sz="1350" dirty="0">
                <a:solidFill>
                  <a:srgbClr val="6F6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stack[sp] 주소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75120" y="340156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store val, slot</a:t>
            </a:r>
            <a:pPr indent="0" marL="0">
              <a:buNone/>
            </a:pPr>
            <a:r>
              <a:rPr lang="en-US" sz="1350" dirty="0">
                <a:solidFill>
                  <a:srgbClr val="6F6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값 저장 (push)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75120" y="39136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 = add   sp, 1    </a:t>
            </a:r>
            <a:pPr indent="0" marL="0">
              <a:buNone/>
            </a:pPr>
            <a:r>
              <a:rPr lang="en-US" sz="1350" dirty="0">
                <a:solidFill>
                  <a:srgbClr val="6F6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sp + 1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75120" y="442569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store inc, sp  </a:t>
            </a:r>
            <a:pPr indent="0" marL="0">
              <a:buNone/>
            </a:pPr>
            <a:r>
              <a:rPr lang="en-US" sz="1350" dirty="0">
                <a:solidFill>
                  <a:srgbClr val="6F6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sp 갱신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75120" y="50749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9A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 은 정확히 거꾸로: sp−−  후  stack[sp] 를 load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NyangLang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변수는 미리, 한 번에 할당한다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40680" cy="3931920"/>
          </a:xfrm>
          <a:prstGeom prst="rect">
            <a:avLst/>
          </a:prstGeom>
          <a:solidFill>
            <a:srgbClr val="F7F6F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1 — 전체 스캔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전에 모든 커맨드를 한 번 훑어, 실제로 쓰이는 변수 ID만 모은다.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(점프 대상·배열 인덱스에 쓰이는 변수까지 포함)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2 — IR 생성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모은 변수를 entry 블록에서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하고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0으로 초기화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뒤, 본문 코드를 생성한다.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468112" cy="3931920"/>
          </a:xfrm>
          <a:prstGeom prst="rect">
            <a:avLst/>
          </a:prstGeom>
          <a:solidFill>
            <a:srgbClr val="1E1B2E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미리 할당하나?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37960" y="2514600"/>
            <a:ext cx="137160" cy="1371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2395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지배(dominance) 규칙 충족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12280" y="277977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변수가 사용되는 모든 경로보다 먼저, entry에서 정의되어야 LLVM 검증을 통과한다.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37960" y="3593592"/>
            <a:ext cx="137160" cy="1371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3474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 초기화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12280" y="385876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미선언 변수도 0으로 시작 → 실행 결과가 항상 같다(미정의 동작 제거).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4672584"/>
            <a:ext cx="137160" cy="1371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4553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할당 방지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12280" y="49377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변수당 메모리 슬롯 하나만 → 깔끔하고 안전한 IR.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NyangLang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③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한 줄 = 베이직 블록 하나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줄을 line_1, line_2 … 블록으로 만들고, 순차 줄은 branch로 잇는다. 점프문이 곧 제어 흐름 그래프(CFG)가 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874520" cy="914400"/>
          </a:xfrm>
          <a:prstGeom prst="rect">
            <a:avLst/>
          </a:prstGeom>
          <a:solidFill>
            <a:srgbClr val="F7F6FB"/>
          </a:solidFill>
          <a:ln w="19050">
            <a:solidFill>
              <a:srgbClr val="6B728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9535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alloca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14600" y="3291840"/>
            <a:ext cx="384048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98648" y="2834640"/>
            <a:ext cx="1874520" cy="914400"/>
          </a:xfrm>
          <a:prstGeom prst="rect">
            <a:avLst/>
          </a:prstGeom>
          <a:solidFill>
            <a:srgbClr val="EEF3FE"/>
          </a:solidFill>
          <a:ln w="19050">
            <a:solidFill>
              <a:srgbClr val="5B8DE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98648" y="29535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line_1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98648" y="3337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73168" y="3291840"/>
            <a:ext cx="384048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57216" y="2834640"/>
            <a:ext cx="1874520" cy="914400"/>
          </a:xfrm>
          <a:prstGeom prst="rect">
            <a:avLst/>
          </a:prstGeom>
          <a:solidFill>
            <a:srgbClr val="EEF3FE"/>
          </a:solidFill>
          <a:ln w="19050">
            <a:solidFill>
              <a:srgbClr val="5B8DE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57216" y="29535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line_2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57216" y="3337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31736" y="3291840"/>
            <a:ext cx="384048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15784" y="2834640"/>
            <a:ext cx="1874520" cy="914400"/>
          </a:xfrm>
          <a:prstGeom prst="rect">
            <a:avLst/>
          </a:prstGeom>
          <a:solidFill>
            <a:srgbClr val="FFF1E8"/>
          </a:solidFill>
          <a:ln w="19050">
            <a:solidFill>
              <a:srgbClr val="FF8C5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15784" y="29535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line_3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15784" y="3337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점프?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290304" y="3291840"/>
            <a:ext cx="384048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74352" y="2834640"/>
            <a:ext cx="1874520" cy="914400"/>
          </a:xfrm>
          <a:prstGeom prst="rect">
            <a:avLst/>
          </a:prstGeom>
          <a:solidFill>
            <a:srgbClr val="EAF8F3"/>
          </a:solidFill>
          <a:ln w="19050">
            <a:solidFill>
              <a:srgbClr val="53D1B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74352" y="29535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D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74352" y="3337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 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94476" y="3749040"/>
            <a:ext cx="0" cy="548640"/>
          </a:xfrm>
          <a:prstGeom prst="line">
            <a:avLst/>
          </a:prstGeom>
          <a:noFill/>
          <a:ln w="25400">
            <a:solidFill>
              <a:srgbClr val="FF8C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4476" y="4297680"/>
            <a:ext cx="2258568" cy="0"/>
          </a:xfrm>
          <a:prstGeom prst="line">
            <a:avLst/>
          </a:prstGeom>
          <a:noFill/>
          <a:ln w="25400">
            <a:solidFill>
              <a:srgbClr val="FF8C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3044" y="4297680"/>
            <a:ext cx="0" cy="-548640"/>
          </a:xfrm>
          <a:prstGeom prst="line">
            <a:avLst/>
          </a:prstGeom>
          <a:noFill/>
          <a:ln w="25400">
            <a:solidFill>
              <a:srgbClr val="FF8C5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911596" y="4315968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참 → 되돌아가기 (반복문)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5166360"/>
            <a:ext cx="11274552" cy="914400"/>
          </a:xfrm>
          <a:prstGeom prst="rect">
            <a:avLst/>
          </a:prstGeom>
          <a:solidFill>
            <a:srgbClr val="F7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303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esolang의 '몇 번째 줄로 점프' 라는 개념이, LLVM에서는 자연스럽게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간 분기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표현된다. 마지막 exit 블록에서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E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 0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으로 프로그램 종료.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NyangLang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점프의 두 모드 — 정적 vs 동적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532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5532120" cy="86868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목적지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66160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cbranch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점프할 줄 번호가 코드에 상수로 적혀 있을 때.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3758184"/>
            <a:ext cx="128016" cy="1280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64845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분기 cbranch 하나로 처리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626864"/>
            <a:ext cx="128016" cy="1280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51713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조건도 상수면 → 컴파일 타임에 분기를 아예 제거 (작은 최적화)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5532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737360"/>
            <a:ext cx="5532120" cy="868680"/>
          </a:xfrm>
          <a:prstGeom prst="rect">
            <a:avLst/>
          </a:prstGeom>
          <a:solidFill>
            <a:srgbClr val="FF8C5A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737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목적지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26880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7960" y="2834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점프할 줄 번호가 변수 값으로 정해질 때.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583680" y="3758184"/>
            <a:ext cx="128016" cy="128016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64845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switch 로 1..n 줄을 각 블록에 매핑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0" y="4626864"/>
            <a:ext cx="128016" cy="128016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451713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밖이면 default → exit 로 안전하게 종료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NyangLang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 IR TO .EXE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IR에서 실행 파일까지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3317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DE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37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LLVM IR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80360" y="2103120"/>
            <a:ext cx="457200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37560" y="1737360"/>
            <a:ext cx="2331720" cy="731520"/>
          </a:xfrm>
          <a:prstGeom prst="rect">
            <a:avLst/>
          </a:prstGeom>
          <a:solidFill>
            <a:srgbClr val="F7F6FB"/>
          </a:solidFill>
          <a:ln w="19050">
            <a:solidFill>
              <a:srgbClr val="1E1B2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737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.o 오브젝트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0" y="2103120"/>
            <a:ext cx="457200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26480" y="1737360"/>
            <a:ext cx="23317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5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737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gcc 링킹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58200" y="2103120"/>
            <a:ext cx="457200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15400" y="1737360"/>
            <a:ext cx="23317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53D1B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1737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D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.exe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137160" cy="137160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807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printf / scanf 는 external 선언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libc 함수를 그대로 호출 → 입출력 구현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75888"/>
            <a:ext cx="137160" cy="137160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5570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emit_object() 로 .o 생성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llvmlite가 타깃 머신용 오브젝트로 변환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25696"/>
            <a:ext cx="137160" cy="137160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3068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gcc 로 링킹 → 네이티브 .exe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2960" y="46542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라이브러리와 묶어 실행 파일 완성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175504"/>
            <a:ext cx="137160" cy="137160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056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UTF-8 콘솔 자동 설정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2960" y="54041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SetConsoleOutputCP(65001) 로 한글 깨짐 방지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2651760"/>
            <a:ext cx="5468112" cy="3108960"/>
          </a:xfrm>
          <a:prstGeom prst="rect">
            <a:avLst/>
          </a:prstGeom>
          <a:solidFill>
            <a:srgbClr val="17152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37960" y="278892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88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생성된 IR (nyang build --ir)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37960" y="3154680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i32 @main() {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37960" y="3442716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8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entry: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37960" y="3730752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 i32 @SetConsoleOutputCP(i32 65001)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37960" y="4018788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%stack = alloca [256 x i32]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37960" y="4306824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%var1  = alloca i32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37960" y="4594860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 label %line_1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37960" y="4882896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8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line_2: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537960" y="5170932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%add = add i32 %a, %b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37960" y="5458968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  ret i32 0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NyangLang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PROOF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— 컴파일의 값어치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프로그램(반복 연산 벤치)을 두 백엔드로 실행, 각 3회 평균. *수치는 측정 환경에 따라 달라짐.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94560"/>
          <a:ext cx="6400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315200" y="2286000"/>
            <a:ext cx="4434840" cy="3474720"/>
          </a:xfrm>
          <a:prstGeom prst="rect">
            <a:avLst/>
          </a:prstGeom>
          <a:solidFill>
            <a:srgbClr val="1E1B2E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8952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0" y="292608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33×</a:t>
            </a:r>
            <a:endParaRPr lang="en-US" sz="8000" dirty="0"/>
          </a:p>
        </p:txBody>
      </p:sp>
      <p:sp>
        <p:nvSpPr>
          <p:cNvPr id="10" name="Text 7"/>
          <p:cNvSpPr/>
          <p:nvPr/>
        </p:nvSpPr>
        <p:spPr>
          <a:xfrm>
            <a:off x="7315200" y="43434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빠른 실행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0" y="48006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3D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0.792초  →  0.024초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"인터프리터로 끝났다면, 이 숫자는 없다."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NyangLang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DIFFERENT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보통의 esolang vs NyangLang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560527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보통의 esolang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3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NyangLang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C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방식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인터프리터만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1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인터프리터 + LLVM 네이티브 컴파일러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생성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1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LLVM IR → .o → 링킹 → .exe (진짜 기계어)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성능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느림 (고정)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1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컴파일 시 수십 배 빠름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프론트엔드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1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렉서·파서를 두 백엔드가 공유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REPL 정도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1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 (run / build) + 웹 플레이그라운드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없음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1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배열 · 디버그 출력 · 동적 점프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— esolang을 가지고, 컴파일러 설계의 전 과정을 진짜로 구현했다.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NyangLang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280160"/>
            <a:ext cx="3657600" cy="3657600"/>
          </a:xfrm>
          <a:prstGeom prst="ellipse">
            <a:avLst/>
          </a:prstGeom>
          <a:solidFill>
            <a:srgbClr val="FF8C5A">
              <a:alpha val="16000"/>
            </a:srgbClr>
          </a:solidFill>
          <a:ln/>
        </p:spPr>
      </p:sp>
      <p:pic>
        <p:nvPicPr>
          <p:cNvPr id="3" name="Image 0" descr="C:\Users\dlsgh\Desktop\project\NyangLang\web\static\images\header-cat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4114800"/>
            <a:ext cx="2011680" cy="2011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5" name="Text 2"/>
          <p:cNvSpPr/>
          <p:nvPr/>
        </p:nvSpPr>
        <p:spPr>
          <a:xfrm>
            <a:off x="713232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LIMITS &amp; WRAP-UP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한계, 그리고 마무리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6583680" cy="2331720"/>
          </a:xfrm>
          <a:prstGeom prst="rect">
            <a:avLst/>
          </a:prstGeom>
          <a:solidFill>
            <a:srgbClr val="2A2740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한계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2706624"/>
            <a:ext cx="118872" cy="11887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578608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디버그 출력(냐!, 냐!!)·가변 길이 배열은 컴파일러 미지원 → 인터프리터로 폴백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3419856"/>
            <a:ext cx="118872" cy="118872"/>
          </a:xfrm>
          <a:prstGeom prst="ellipse">
            <a:avLst/>
          </a:prstGeom>
          <a:solidFill>
            <a:srgbClr val="FF8C5A"/>
          </a:solidFill>
          <a:ln/>
        </p:spPr>
      </p:sp>
      <p:sp>
        <p:nvSpPr>
          <p:cNvPr id="12" name="Text 9"/>
          <p:cNvSpPr/>
          <p:nvPr/>
        </p:nvSpPr>
        <p:spPr>
          <a:xfrm>
            <a:off x="1170432" y="32918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자모(초·중·종성) 분해 출력 미구현 (ASCII 출력은 정상)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3977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97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이중 백엔드 구조라, 컴파일러가 못 하는 건 인터프리터로 우회된다 (한계가 곧 설계 장점)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— </a:t>
            </a:r>
            <a:pPr indent="0" marL="0">
              <a:buNone/>
            </a:pPr>
            <a:r>
              <a:rPr lang="en-US" sz="1350" dirty="0">
                <a:solidFill>
                  <a:srgbClr val="CFC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출력 · Python 트랜스파일러 검토 · 언어 스펙 공식화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5212080"/>
            <a:ext cx="8595360" cy="1051560"/>
          </a:xfrm>
          <a:prstGeom prst="rect">
            <a:avLst/>
          </a:prstGeom>
          <a:solidFill>
            <a:srgbClr val="FF8C5A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521208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장난스러운 문법 뒤에, 렉서·파서·인터프리터·LLVM 컴파일러·CLI·웹까지 갖춘 실제 컴파일러 파이프라인이 있다.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NyangLang 최종 발표</dc:title>
  <dc:subject>PptxGenJS Presentation</dc:subject>
  <dc:creator>집사 팀</dc:creator>
  <cp:lastModifiedBy>집사 팀</cp:lastModifiedBy>
  <cp:revision>1</cp:revision>
  <dcterms:created xsi:type="dcterms:W3CDTF">2026-06-13T13:13:25Z</dcterms:created>
  <dcterms:modified xsi:type="dcterms:W3CDTF">2026-06-13T13:13:25Z</dcterms:modified>
</cp:coreProperties>
</file>